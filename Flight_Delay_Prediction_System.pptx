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92" r:id="rId3"/>
    <p:sldId id="1291" r:id="rId5"/>
    <p:sldId id="1292" r:id="rId6"/>
    <p:sldId id="1294" r:id="rId7"/>
    <p:sldId id="1293" r:id="rId8"/>
    <p:sldId id="1296" r:id="rId9"/>
    <p:sldId id="1250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588" userDrawn="1">
          <p15:clr>
            <a:srgbClr val="A4A3A4"/>
          </p15:clr>
        </p15:guide>
        <p15:guide id="2" pos="144" userDrawn="1">
          <p15:clr>
            <a:srgbClr val="A4A3A4"/>
          </p15:clr>
        </p15:guide>
        <p15:guide id="3" orient="horz" pos="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C73"/>
    <a:srgbClr val="E8ECF8"/>
    <a:srgbClr val="EF6331"/>
    <a:srgbClr val="223366"/>
    <a:srgbClr val="00717D"/>
    <a:srgbClr val="C9D2ED"/>
    <a:srgbClr val="851910"/>
    <a:srgbClr val="0000FF"/>
    <a:srgbClr val="FFCD8C"/>
    <a:srgbClr val="9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0" d="100"/>
          <a:sy n="150" d="100"/>
        </p:scale>
        <p:origin x="474" y="108"/>
      </p:cViewPr>
      <p:guideLst>
        <p:guide orient="horz" pos="588"/>
        <p:guide pos="144"/>
        <p:guide orient="horz" pos="8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ustomXml" Target="../customXml/item1.xml"/><Relationship Id="rId15" Type="http://schemas.openxmlformats.org/officeDocument/2006/relationships/customXml" Target="../customXml/item2.xml"/><Relationship Id="rId16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 panose="02020603050405020304"/>
              </a:rPr>
            </a:fld>
            <a:endParaRPr lang="en-US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57799B1-BD81-4C27-AC39-14752E0AA9C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46D0F184-99CC-4BD8-B5C7-8D3F468855F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image" Target="../media/image1.png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54356"/>
            <a:ext cx="9144000" cy="45719"/>
          </a:xfrm>
          <a:prstGeom prst="rect">
            <a:avLst/>
          </a:prstGeom>
          <a:solidFill>
            <a:srgbClr val="EF63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2445"/>
            <a:ext cx="9144000" cy="467289"/>
          </a:xfrm>
          <a:prstGeom prst="rect">
            <a:avLst/>
          </a:prstGeom>
          <a:solidFill>
            <a:srgbClr val="E8EC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oogle Shape;110;p4" descr="A close up of a sign&#10;&#10;Description automatically generated"/>
          <p:cNvPicPr preferRelativeResize="0"/>
          <p:nvPr userDrawn="1"/>
        </p:nvPicPr>
        <p:blipFill rotWithShape="1">
          <a:blip r:embed="rId4"/>
          <a:srcRect/>
          <a:stretch>
            <a:fillRect/>
          </a:stretch>
        </p:blipFill>
        <p:spPr>
          <a:xfrm>
            <a:off x="7717638" y="48027"/>
            <a:ext cx="1125129" cy="376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angle 13"/>
          <p:cNvSpPr/>
          <p:nvPr userDrawn="1"/>
        </p:nvSpPr>
        <p:spPr>
          <a:xfrm>
            <a:off x="0" y="5097781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jpeg"/><Relationship Id="rId7" Type="http://schemas.openxmlformats.org/officeDocument/2006/relationships/image" Target="../media/image1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copilotstudio.microsoft.com/environments/Default-ad06ef22-d6dc-4a55-b4c1-c3a158f5f147/bots/cr78b_copilot1tJ7uAB/canvas" TargetMode="External"/><Relationship Id="rId2" Type="http://schemas.openxmlformats.org/officeDocument/2006/relationships/hyperlink" Target="https://flight-delay-deduction-system.streamlit.app/&#13;" TargetMode="External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group of people sitting around a table&#10;&#10;Description automatically generated"/>
          <p:cNvPicPr>
            <a:picLocks noChangeAspect="1"/>
          </p:cNvPicPr>
          <p:nvPr/>
        </p:nvPicPr>
        <p:blipFill rotWithShape="1">
          <a:blip r:embed="rId1"/>
          <a:srcRect r="27854" b="25110"/>
          <a:stretch>
            <a:fillRect/>
          </a:stretch>
        </p:blipFill>
        <p:spPr>
          <a:xfrm>
            <a:off x="3591976" y="-11575"/>
            <a:ext cx="5563599" cy="3851975"/>
          </a:xfrm>
          <a:prstGeom prst="rect">
            <a:avLst/>
          </a:prstGeom>
        </p:spPr>
      </p:pic>
      <p:grpSp>
        <p:nvGrpSpPr>
          <p:cNvPr id="9" name="Group 6"/>
          <p:cNvGrpSpPr/>
          <p:nvPr/>
        </p:nvGrpSpPr>
        <p:grpSpPr>
          <a:xfrm>
            <a:off x="552672" y="1351393"/>
            <a:ext cx="5347819" cy="2630034"/>
            <a:chOff x="-30164" y="-47625"/>
            <a:chExt cx="1548591" cy="761590"/>
          </a:xfrm>
        </p:grpSpPr>
        <p:sp>
          <p:nvSpPr>
            <p:cNvPr id="10" name="Freeform 7"/>
            <p:cNvSpPr/>
            <p:nvPr/>
          </p:nvSpPr>
          <p:spPr>
            <a:xfrm>
              <a:off x="-30164" y="0"/>
              <a:ext cx="1548591" cy="713965"/>
            </a:xfrm>
            <a:custGeom>
              <a:avLst/>
              <a:gdLst/>
              <a:ahLst/>
              <a:cxnLst/>
              <a:rect l="l" t="t" r="r" b="b"/>
              <a:pathLst>
                <a:path w="1223699" h="713965">
                  <a:moveTo>
                    <a:pt x="0" y="0"/>
                  </a:moveTo>
                  <a:lnTo>
                    <a:pt x="1223699" y="0"/>
                  </a:lnTo>
                  <a:lnTo>
                    <a:pt x="1223699" y="713965"/>
                  </a:lnTo>
                  <a:lnTo>
                    <a:pt x="0" y="7139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8"/>
            <p:cNvSpPr txBox="1"/>
            <p:nvPr/>
          </p:nvSpPr>
          <p:spPr>
            <a:xfrm>
              <a:off x="0" y="-47625"/>
              <a:ext cx="1223699" cy="761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id="12" name="Group 9"/>
          <p:cNvGrpSpPr/>
          <p:nvPr/>
        </p:nvGrpSpPr>
        <p:grpSpPr>
          <a:xfrm>
            <a:off x="793587" y="1098363"/>
            <a:ext cx="4820890" cy="773873"/>
            <a:chOff x="-117556" y="-72266"/>
            <a:chExt cx="1991689" cy="319716"/>
          </a:xfrm>
        </p:grpSpPr>
        <p:sp>
          <p:nvSpPr>
            <p:cNvPr id="13" name="Freeform 10"/>
            <p:cNvSpPr/>
            <p:nvPr/>
          </p:nvSpPr>
          <p:spPr>
            <a:xfrm>
              <a:off x="-117556" y="-72266"/>
              <a:ext cx="1991689" cy="319716"/>
            </a:xfrm>
            <a:custGeom>
              <a:avLst/>
              <a:gdLst/>
              <a:ahLst/>
              <a:cxnLst/>
              <a:rect l="l" t="t" r="r" b="b"/>
              <a:pathLst>
                <a:path w="736235" h="178921">
                  <a:moveTo>
                    <a:pt x="0" y="0"/>
                  </a:moveTo>
                  <a:lnTo>
                    <a:pt x="736235" y="0"/>
                  </a:lnTo>
                  <a:lnTo>
                    <a:pt x="736235" y="178921"/>
                  </a:lnTo>
                  <a:lnTo>
                    <a:pt x="0" y="178921"/>
                  </a:lnTo>
                  <a:close/>
                </a:path>
              </a:pathLst>
            </a:custGeom>
            <a:solidFill>
              <a:srgbClr val="E8EC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1"/>
            <p:cNvSpPr txBox="1"/>
            <p:nvPr/>
          </p:nvSpPr>
          <p:spPr>
            <a:xfrm>
              <a:off x="0" y="-66675"/>
              <a:ext cx="736235" cy="245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id="16" name="Freeform 13"/>
          <p:cNvSpPr/>
          <p:nvPr/>
        </p:nvSpPr>
        <p:spPr>
          <a:xfrm>
            <a:off x="1783618" y="199"/>
            <a:ext cx="1032349" cy="451764"/>
          </a:xfrm>
          <a:custGeom>
            <a:avLst/>
            <a:gdLst/>
            <a:ahLst/>
            <a:cxnLst/>
            <a:rect l="l" t="t" r="r" b="b"/>
            <a:pathLst>
              <a:path w="2102123" h="919905">
                <a:moveTo>
                  <a:pt x="0" y="0"/>
                </a:moveTo>
                <a:lnTo>
                  <a:pt x="2102123" y="0"/>
                </a:lnTo>
                <a:lnTo>
                  <a:pt x="2102123" y="919905"/>
                </a:lnTo>
                <a:lnTo>
                  <a:pt x="0" y="919905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3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6728" r="-653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4"/>
          <p:cNvSpPr/>
          <p:nvPr/>
        </p:nvSpPr>
        <p:spPr>
          <a:xfrm>
            <a:off x="151647" y="93093"/>
            <a:ext cx="770970" cy="773872"/>
          </a:xfrm>
          <a:custGeom>
            <a:avLst/>
            <a:gdLst/>
            <a:ahLst/>
            <a:cxnLst/>
            <a:rect l="l" t="t" r="r" b="b"/>
            <a:pathLst>
              <a:path w="1569889" h="1575798">
                <a:moveTo>
                  <a:pt x="0" y="0"/>
                </a:moveTo>
                <a:lnTo>
                  <a:pt x="1569889" y="0"/>
                </a:lnTo>
                <a:lnTo>
                  <a:pt x="1569889" y="1575798"/>
                </a:lnTo>
                <a:lnTo>
                  <a:pt x="0" y="157579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1070447" y="2316026"/>
            <a:ext cx="40891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>
                <a:solidFill>
                  <a:schemeClr val="tx1"/>
                </a:solidFill>
              </a:rPr>
              <a:t>Flight Delay Prediction System</a:t>
            </a:r>
            <a:endParaRPr lang="en-US" altLang="en-US" sz="2800" b="1">
              <a:solidFill>
                <a:schemeClr val="tx1"/>
              </a:solidFill>
            </a:endParaRPr>
          </a:p>
        </p:txBody>
      </p:sp>
      <p:pic>
        <p:nvPicPr>
          <p:cNvPr id="39" name="Picture 38" descr="A group of people looking at a computer&#10;&#10;Description automatically generated"/>
          <p:cNvPicPr>
            <a:picLocks noChangeAspect="1"/>
          </p:cNvPicPr>
          <p:nvPr/>
        </p:nvPicPr>
        <p:blipFill rotWithShape="1">
          <a:blip r:embed="rId6"/>
          <a:srcRect t="62443" r="30604" b="14243"/>
          <a:stretch>
            <a:fillRect/>
          </a:stretch>
        </p:blipFill>
        <p:spPr>
          <a:xfrm>
            <a:off x="-8839" y="3956265"/>
            <a:ext cx="3569383" cy="1199146"/>
          </a:xfrm>
          <a:prstGeom prst="rect">
            <a:avLst/>
          </a:prstGeom>
        </p:spPr>
      </p:pic>
      <p:sp>
        <p:nvSpPr>
          <p:cNvPr id="40" name="Google Shape;70;p13"/>
          <p:cNvSpPr txBox="1"/>
          <p:nvPr/>
        </p:nvSpPr>
        <p:spPr>
          <a:xfrm>
            <a:off x="3702538" y="4018852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 Members</a:t>
            </a:r>
            <a:endParaRPr lang="en-US" sz="1200" b="0" i="0" u="none" strike="noStrike" cap="none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705805" y="4295884"/>
            <a:ext cx="2168784" cy="84518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IN" altLang="fi-FI" sz="1100" err="1">
                <a:solidFill>
                  <a:schemeClr val="bg1"/>
                </a:solidFill>
              </a:rPr>
              <a:t>Athul T K</a:t>
            </a:r>
            <a:endParaRPr lang="en-IN" altLang="fi-FI" sz="1100" err="1">
              <a:solidFill>
                <a:schemeClr val="bg1"/>
              </a:solidFill>
            </a:endParaRP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IN" altLang="fi-FI" sz="1100" err="1">
                <a:solidFill>
                  <a:schemeClr val="bg1"/>
                </a:solidFill>
              </a:rPr>
              <a:t>Krishnathej B R</a:t>
            </a:r>
            <a:endParaRPr lang="en-IN" altLang="fi-FI" sz="1100" err="1">
              <a:solidFill>
                <a:schemeClr val="bg1"/>
              </a:solidFill>
            </a:endParaRP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IN" altLang="fi-FI" sz="1100" err="1">
                <a:solidFill>
                  <a:schemeClr val="bg1"/>
                </a:solidFill>
              </a:rPr>
              <a:t>Sachin Jalesh</a:t>
            </a:r>
            <a:endParaRPr lang="en-IN" altLang="fi-FI" sz="1100" err="1">
              <a:solidFill>
                <a:schemeClr val="bg1"/>
              </a:solidFill>
            </a:endParaRPr>
          </a:p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IN" altLang="fi-FI" sz="1100">
                <a:solidFill>
                  <a:schemeClr val="bg1"/>
                </a:solidFill>
              </a:rPr>
              <a:t>Amal Asok K P</a:t>
            </a:r>
            <a:endParaRPr lang="en-IN" altLang="fi-FI" sz="1100">
              <a:solidFill>
                <a:schemeClr val="bg1"/>
              </a:solidFill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3799761" y="4268506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Google Shape;70;p13"/>
          <p:cNvSpPr txBox="1"/>
          <p:nvPr/>
        </p:nvSpPr>
        <p:spPr>
          <a:xfrm>
            <a:off x="6607160" y="4171325"/>
            <a:ext cx="145692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Guided by</a:t>
            </a:r>
            <a:endParaRPr lang="en-US" sz="1200" b="0" i="0" u="none" strike="noStrike" cap="none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09792" y="4461692"/>
            <a:ext cx="2168784" cy="26035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>
              <a:spcAft>
                <a:spcPts val="200"/>
              </a:spcAft>
              <a:buClr>
                <a:schemeClr val="bg1"/>
              </a:buClr>
              <a:buAutoNum type="arabicPeriod"/>
            </a:pPr>
            <a:r>
              <a:rPr lang="en-IN" altLang="fi-FI" sz="1100">
                <a:solidFill>
                  <a:schemeClr val="bg1"/>
                </a:solidFill>
              </a:rPr>
              <a:t>Dalmiya Candice Denzil</a:t>
            </a:r>
            <a:endParaRPr lang="en-IN" altLang="fi-FI" sz="1100">
              <a:solidFill>
                <a:schemeClr val="bg1"/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6703748" y="4448284"/>
            <a:ext cx="2074828" cy="13408"/>
          </a:xfrm>
          <a:prstGeom prst="line">
            <a:avLst/>
          </a:prstGeom>
          <a:ln w="3175">
            <a:solidFill>
              <a:srgbClr val="E5EEFF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1402805" y="1159739"/>
            <a:ext cx="3608846" cy="660460"/>
            <a:chOff x="1516338" y="1159739"/>
            <a:chExt cx="3608846" cy="660460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3969406" y="1316016"/>
              <a:ext cx="0" cy="3303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9" name="Google Shape;110;p4" descr="A close up of a sign&#10;&#10;Description automatically generated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4237873" y="1341787"/>
              <a:ext cx="887311" cy="296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Picture 49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516338" y="1351451"/>
              <a:ext cx="1069048" cy="277034"/>
            </a:xfrm>
            <a:prstGeom prst="rect">
              <a:avLst/>
            </a:prstGeom>
            <a:ln w="0">
              <a:noFill/>
            </a:ln>
          </p:spPr>
        </p:pic>
        <p:cxnSp>
          <p:nvCxnSpPr>
            <p:cNvPr id="51" name="Straight Connector 50"/>
            <p:cNvCxnSpPr/>
            <p:nvPr/>
          </p:nvCxnSpPr>
          <p:spPr>
            <a:xfrm>
              <a:off x="2615873" y="1316016"/>
              <a:ext cx="0" cy="33032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2" name="Picture 51" descr="A logo with tools in a circle&#10;&#10;Description automatically generated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93928" y="1159739"/>
              <a:ext cx="658966" cy="6604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933" y="683683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>
                <a:solidFill>
                  <a:srgbClr val="213163"/>
                </a:solidFill>
              </a:rPr>
              <a:t>Problem Statement</a:t>
            </a:r>
            <a:endParaRPr lang="en-IN" sz="1600">
              <a:solidFill>
                <a:srgbClr val="21316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4414" y="1133132"/>
            <a:ext cx="4413733" cy="2451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3355" indent="-173355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altLang="en-US"/>
              <a:t>F</a:t>
            </a:r>
            <a:r>
              <a:rPr lang="en-US" altLang="en-US"/>
              <a:t>light delays cause inconvenience to passengers, increase airline costs, and disrupt airport operations.</a:t>
            </a:r>
            <a:endParaRPr lang="en-US" altLang="en-US"/>
          </a:p>
          <a:p>
            <a:pPr marL="173355" indent="-173355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There is a need for a system that can predict flight delays in advance using historical flight data</a:t>
            </a:r>
            <a:r>
              <a:rPr lang="en-IN" altLang="en-US"/>
              <a:t> </a:t>
            </a:r>
            <a:r>
              <a:rPr lang="en-US" altLang="en-US"/>
              <a:t>and machine learning techniques.</a:t>
            </a:r>
            <a:endParaRPr lang="en-US"/>
          </a:p>
          <a:p>
            <a:pPr marL="173355" indent="-173355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en-US"/>
              <a:t>The proposed system aims to analyze factors such as airline, departure time, source airport, destination airport, and weather conditions to predict whether a flight is likely to be delayed.</a:t>
            </a:r>
            <a:endParaRPr lang="en-US" altLang="en-US"/>
          </a:p>
        </p:txBody>
      </p:sp>
      <p:pic>
        <p:nvPicPr>
          <p:cNvPr id="7" name="Picture 6" descr="A cartoon of a person holding a book&#10;&#10;Description automatically generated"/>
          <p:cNvPicPr>
            <a:picLocks noChangeAspect="1"/>
          </p:cNvPicPr>
          <p:nvPr/>
        </p:nvPicPr>
        <p:blipFill rotWithShape="1">
          <a:blip r:embed="rId1"/>
          <a:srcRect b="41075"/>
          <a:stretch>
            <a:fillRect/>
          </a:stretch>
        </p:blipFill>
        <p:spPr>
          <a:xfrm>
            <a:off x="5112433" y="1147011"/>
            <a:ext cx="2351445" cy="3521243"/>
          </a:xfrm>
          <a:prstGeom prst="rect">
            <a:avLst/>
          </a:prstGeom>
        </p:spPr>
      </p:pic>
      <p:pic>
        <p:nvPicPr>
          <p:cNvPr id="8" name="Picture 7" descr="A blue question mark on a black background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258" y="2627897"/>
            <a:ext cx="2260934" cy="22609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933" y="683683"/>
            <a:ext cx="44280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Solution</a:t>
            </a:r>
            <a:endParaRPr lang="en-IN" sz="1600">
              <a:solidFill>
                <a:srgbClr val="213163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4957011" y="1136519"/>
            <a:ext cx="4296704" cy="3560273"/>
            <a:chOff x="4957011" y="1136519"/>
            <a:chExt cx="4296704" cy="3560273"/>
          </a:xfrm>
        </p:grpSpPr>
        <p:grpSp>
          <p:nvGrpSpPr>
            <p:cNvPr id="14" name="Group 13"/>
            <p:cNvGrpSpPr/>
            <p:nvPr/>
          </p:nvGrpSpPr>
          <p:grpSpPr>
            <a:xfrm>
              <a:off x="5693442" y="1136519"/>
              <a:ext cx="3560273" cy="3560273"/>
              <a:chOff x="4955715" y="1142768"/>
              <a:chExt cx="3560273" cy="3560273"/>
            </a:xfrm>
          </p:grpSpPr>
          <p:pic>
            <p:nvPicPr>
              <p:cNvPr id="15" name="Graphic 2" descr="Building with solid fill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955715" y="1142768"/>
                <a:ext cx="3560273" cy="3560273"/>
              </a:xfrm>
              <a:prstGeom prst="rect">
                <a:avLst/>
              </a:prstGeom>
            </p:spPr>
          </p:pic>
          <p:pic>
            <p:nvPicPr>
              <p:cNvPr id="16" name="Picture 15" descr="A green leafy plant with black background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2037" y="400073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7" name="Picture 16" descr="A green leafy plant with black background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4975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8" name="Picture 17" descr="A green leafy plant with black background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6171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19" name="Picture 18" descr="A green leafy plant with black background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9659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0" name="Picture 19" descr="A green leafy plant with black background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7588" y="3992712"/>
                <a:ext cx="463488" cy="463488"/>
              </a:xfrm>
              <a:prstGeom prst="rect">
                <a:avLst/>
              </a:prstGeom>
            </p:spPr>
          </p:pic>
          <p:pic>
            <p:nvPicPr>
              <p:cNvPr id="21" name="Picture 20" descr="A green leafy plant with black background&#10;&#10;Description automatically generated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9213" y="3992712"/>
                <a:ext cx="463488" cy="463488"/>
              </a:xfrm>
              <a:prstGeom prst="rect">
                <a:avLst/>
              </a:prstGeom>
            </p:spPr>
          </p:pic>
        </p:grpSp>
        <p:sp>
          <p:nvSpPr>
            <p:cNvPr id="22" name="Oval 21"/>
            <p:cNvSpPr/>
            <p:nvPr/>
          </p:nvSpPr>
          <p:spPr>
            <a:xfrm>
              <a:off x="4957011" y="1389708"/>
              <a:ext cx="2274970" cy="22749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Google Shape;134;p23"/>
            <p:cNvSpPr txBox="1"/>
            <p:nvPr/>
          </p:nvSpPr>
          <p:spPr>
            <a:xfrm>
              <a:off x="5156936" y="1429477"/>
              <a:ext cx="1875120" cy="21954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3000" b="1" i="0" u="none" strike="noStrike" cap="none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AI</a:t>
              </a:r>
              <a:endParaRPr lang="en-US" sz="13000" b="1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134;p23"/>
            <p:cNvSpPr txBox="1"/>
            <p:nvPr/>
          </p:nvSpPr>
          <p:spPr>
            <a:xfrm>
              <a:off x="6997972" y="1375380"/>
              <a:ext cx="974956" cy="4103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R="0" lvl="0" rtl="0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400" b="1" i="0" u="none" strike="noStrike" cap="none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SCHOOL</a:t>
              </a:r>
              <a:endParaRPr lang="en-US" sz="1400" b="1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6" name="Google Shape;134;p23"/>
          <p:cNvSpPr txBox="1"/>
          <p:nvPr/>
        </p:nvSpPr>
        <p:spPr>
          <a:xfrm>
            <a:off x="131949" y="1142768"/>
            <a:ext cx="4440051" cy="329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To address this issue, we propose Aerosight — a Machine Learning-based Flight Delay Prediction System that analyzes historical data, integrates live external APIs, and predicts whether a flight is likely to be delayed.</a:t>
            </a:r>
          </a:p>
          <a:p/>
          <a:p>
            <a:r>
              <a:t>Key Technical Components:</a:t>
            </a:r>
          </a:p>
          <a:p>
            <a:r>
              <a:t>• Gradient Boosting (XGBoost) Machine Learning Engine (replaces legacy Random Forest)</a:t>
            </a:r>
          </a:p>
          <a:p>
            <a:r>
              <a:t>• Live Weather API Integration (Open-Meteo) fetching 25 real-time features</a:t>
            </a:r>
          </a:p>
          <a:p>
            <a:r>
              <a:t>• Interactive Route Map (Folium) with risk-coded paths &amp; airport weather details</a:t>
            </a:r>
          </a:p>
          <a:p>
            <a:r>
              <a:t>• Streamlit Interactive Dashboard (with Dark/Light Mode settings)</a:t>
            </a:r>
          </a:p>
          <a:p/>
          <a:p>
            <a:r>
              <a:t>Users enter flight parameters (airline, route, schedule) and get real-time delay probability percentages, a gauge chart, and a plain-English verdict.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7;p22"/>
          <p:cNvSpPr txBox="1"/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Project Demo</a:t>
            </a:r>
            <a:endParaRPr lang="en-US" sz="1600" b="1">
              <a:solidFill>
                <a:srgbClr val="002060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860884" y="1352550"/>
            <a:ext cx="5422232" cy="3199772"/>
            <a:chOff x="1220070" y="1292018"/>
            <a:chExt cx="5422232" cy="3199772"/>
          </a:xfrm>
        </p:grpSpPr>
        <p:sp>
          <p:nvSpPr>
            <p:cNvPr id="6" name="Oval 5"/>
            <p:cNvSpPr/>
            <p:nvPr/>
          </p:nvSpPr>
          <p:spPr>
            <a:xfrm>
              <a:off x="3217787" y="1292018"/>
              <a:ext cx="2826661" cy="282666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hlinkClick r:id="rId1"/>
            </p:cNvPr>
            <p:cNvSpPr/>
            <p:nvPr/>
          </p:nvSpPr>
          <p:spPr>
            <a:xfrm>
              <a:off x="1220070" y="2630906"/>
              <a:ext cx="5422232" cy="1860884"/>
            </a:xfrm>
            <a:prstGeom prst="roundRect">
              <a:avLst>
                <a:gd name="adj" fmla="val 14943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91508" y="3007350"/>
              <a:ext cx="435743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000" b="1" i="0" u="none" strike="noStrike" cap="none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Website link </a:t>
              </a:r>
              <a:endParaRPr lang="en-US" sz="3000" b="1">
                <a:solidFill>
                  <a:schemeClr val="bg1"/>
                </a:solidFill>
              </a:endParaRPr>
            </a:p>
          </p:txBody>
        </p:sp>
        <p:sp>
          <p:nvSpPr>
            <p:cNvPr id="12" name="Rectangle 2"/>
            <p:cNvSpPr>
              <a:spLocks noChangeArrowheads="1"/>
            </p:cNvSpPr>
            <p:nvPr/>
          </p:nvSpPr>
          <p:spPr bwMode="auto">
            <a:xfrm>
              <a:off x="1472165" y="3750103"/>
              <a:ext cx="5015230" cy="4279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no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IN" altLang="en-US" sz="16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  <a:hlinkClick r:id="rId2" tooltip="" action="ppaction://hlinkfile"/>
                </a:rPr>
                <a:t>https://flight-delay-deduction-system.streamlit.app/</a:t>
              </a:r>
              <a:endParaRPr lang="en-IN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2" tooltip="" action="ppaction://hlinkfile"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endParaRPr lang="en-IN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393138" y="1229664"/>
            <a:ext cx="1757585" cy="1815552"/>
            <a:chOff x="686159" y="633457"/>
            <a:chExt cx="2849880" cy="2943873"/>
          </a:xfrm>
        </p:grpSpPr>
        <p:sp>
          <p:nvSpPr>
            <p:cNvPr id="18" name="Rectangle 17"/>
            <p:cNvSpPr/>
            <p:nvPr/>
          </p:nvSpPr>
          <p:spPr>
            <a:xfrm>
              <a:off x="790438" y="1492457"/>
              <a:ext cx="2613660" cy="1493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person on a computer screen&#10;&#10;Description automatically generated"/>
            <p:cNvPicPr>
              <a:picLocks noChangeAspect="1"/>
            </p:cNvPicPr>
            <p:nvPr/>
          </p:nvPicPr>
          <p:blipFill rotWithShape="1">
            <a:blip r:embed="rId3"/>
            <a:srcRect l="17439" r="18038"/>
            <a:stretch>
              <a:fillRect/>
            </a:stretch>
          </p:blipFill>
          <p:spPr>
            <a:xfrm>
              <a:off x="686159" y="633457"/>
              <a:ext cx="2849880" cy="294387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people standing on a arrow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4488180" y="1021274"/>
            <a:ext cx="4655820" cy="3100952"/>
          </a:xfrm>
          <a:prstGeom prst="rect">
            <a:avLst/>
          </a:prstGeom>
        </p:spPr>
      </p:pic>
      <p:sp>
        <p:nvSpPr>
          <p:cNvPr id="4" name="Google Shape;127;p22"/>
          <p:cNvSpPr txBox="1"/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Future Scope</a:t>
            </a:r>
            <a:endParaRPr lang="en-US" sz="1600" b="1">
              <a:solidFill>
                <a:srgbClr val="002060"/>
              </a:solidFill>
            </a:endParaRPr>
          </a:p>
        </p:txBody>
      </p:sp>
      <p:sp>
        <p:nvSpPr>
          <p:cNvPr id="8" name="Google Shape;134;p23"/>
          <p:cNvSpPr txBox="1"/>
          <p:nvPr/>
        </p:nvSpPr>
        <p:spPr>
          <a:xfrm>
            <a:off x="131949" y="1142768"/>
            <a:ext cx="4440051" cy="189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The system has a clear path for expansion to become an industry-grade aerospace operational dashboard:</a:t>
            </a:r>
          </a:p>
          <a:p/>
          <a:p>
            <a:r>
              <a:t>• Real-time Flight Tracking API integration (e.g. FlightAware API) for active airborne flights</a:t>
            </a:r>
          </a:p>
          <a:p>
            <a:r>
              <a:t>• Mobile Application Support (iOS &amp; Android) with push notifications for delay updates</a:t>
            </a:r>
          </a:p>
          <a:p>
            <a:r>
              <a:t>• Advanced AI Models (LSTMs or Transformers) for forecasting downstream propagation delays</a:t>
            </a:r>
          </a:p>
          <a:p>
            <a:r>
              <a:t>• Airport Congestion &amp; Gate Allocation Analysis using flight scheduling graphs</a:t>
            </a:r>
          </a:p>
          <a:p>
            <a:r>
              <a:t>• Carbon Emission Tracking per flight based on routing, aircraft type, and delay duration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27;p22"/>
          <p:cNvSpPr txBox="1"/>
          <p:nvPr/>
        </p:nvSpPr>
        <p:spPr>
          <a:xfrm>
            <a:off x="139767" y="687300"/>
            <a:ext cx="85206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SzPts val="2800"/>
            </a:pPr>
            <a:r>
              <a:rPr lang="en-US" sz="1600" b="1">
                <a:solidFill>
                  <a:srgbClr val="002060"/>
                </a:solidFill>
              </a:rPr>
              <a:t>Conclusion</a:t>
            </a:r>
            <a:endParaRPr lang="en-US" sz="1600" b="1">
              <a:solidFill>
                <a:srgbClr val="002060"/>
              </a:solidFill>
            </a:endParaRPr>
          </a:p>
        </p:txBody>
      </p:sp>
      <p:sp>
        <p:nvSpPr>
          <p:cNvPr id="8" name="Google Shape;134;p23"/>
          <p:cNvSpPr txBox="1"/>
          <p:nvPr/>
        </p:nvSpPr>
        <p:spPr>
          <a:xfrm>
            <a:off x="139569" y="1093238"/>
            <a:ext cx="4440051" cy="405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• Aerosight successfully predicts flight delays using a high-precision Gradient Boosting classifier.</a:t>
            </a:r>
          </a:p>
          <a:p>
            <a:r>
              <a:t>• By streamlining real-time weather integration and predictive modeling, stakeholders can make informed decisions more efficiently.</a:t>
            </a:r>
          </a:p>
          <a:p>
            <a:r>
              <a:t>• The project improves decision-making for passengers, airlines, and airport authorities through predictive analytics and visualizations.</a:t>
            </a:r>
          </a:p>
          <a:p>
            <a:r>
              <a:t>• The project demonstrates how ML and live API integrations can be effectively applied in the aerospace industry to solve real-world problems.</a:t>
            </a:r>
          </a:p>
        </p:txBody>
      </p:sp>
      <p:pic>
        <p:nvPicPr>
          <p:cNvPr id="9" name="Picture 8" descr="A person standing next to a clipboard with a checklist&#10;&#10;Description automatically generated"/>
          <p:cNvPicPr>
            <a:picLocks noChangeAspect="1"/>
          </p:cNvPicPr>
          <p:nvPr/>
        </p:nvPicPr>
        <p:blipFill rotWithShape="1">
          <a:blip r:embed="rId1"/>
          <a:srcRect l="17552" r="12574"/>
          <a:stretch>
            <a:fillRect/>
          </a:stretch>
        </p:blipFill>
        <p:spPr>
          <a:xfrm>
            <a:off x="5205663" y="1100827"/>
            <a:ext cx="3930314" cy="37498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thank you card&#10;&#10;Description automatically generated"/>
          <p:cNvPicPr>
            <a:picLocks noChangeAspect="1"/>
          </p:cNvPicPr>
          <p:nvPr/>
        </p:nvPicPr>
        <p:blipFill rotWithShape="1">
          <a:blip r:embed="rId1"/>
          <a:srcRect l="9710" t="21904" r="9339"/>
          <a:stretch>
            <a:fillRect/>
          </a:stretch>
        </p:blipFill>
        <p:spPr>
          <a:xfrm>
            <a:off x="1869484" y="1466831"/>
            <a:ext cx="5647194" cy="30644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559A34-456E-49A1-8157-9E3D18BFAD36}">
  <ds:schemaRefs/>
</ds:datastoreItem>
</file>

<file path=customXml/itemProps2.xml><?xml version="1.0" encoding="utf-8"?>
<ds:datastoreItem xmlns:ds="http://schemas.openxmlformats.org/officeDocument/2006/customXml" ds:itemID="{7D9E5D5E-A365-4A49-8140-C8CC82A61608}">
  <ds:schemaRefs/>
</ds:datastoreItem>
</file>

<file path=customXml/itemProps3.xml><?xml version="1.0" encoding="utf-8"?>
<ds:datastoreItem xmlns:ds="http://schemas.openxmlformats.org/officeDocument/2006/customXml" ds:itemID="{3706AB80-2608-47D7-8AC8-FA6BC8A9B27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1902</Words>
  <Application>WPS Presentation</Application>
  <PresentationFormat>On-screen Show (16:9)</PresentationFormat>
  <Paragraphs>58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VISHNU AK AK</cp:lastModifiedBy>
  <cp:revision>8</cp:revision>
  <dcterms:created xsi:type="dcterms:W3CDTF">2026-05-22T04:30:00Z</dcterms:created>
  <dcterms:modified xsi:type="dcterms:W3CDTF">2026-06-02T09:07:01Z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KSOProductBuildVer">
    <vt:lpwstr>1033-12.1.0.26880</vt:lpwstr>
  </property>
  <property fmtid="{D5CDD505-2E9C-101B-9397-08002B2CF9AE}" pid="4" name="ICV">
    <vt:lpwstr>74FA0E70394E463F889A37CF5C8BEBC5_13</vt:lpwstr>
  </property>
</Properties>
</file>